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88" r:id="rId7"/>
    <p:sldId id="293" r:id="rId8"/>
    <p:sldId id="257" r:id="rId9"/>
    <p:sldId id="286" r:id="rId10"/>
    <p:sldId id="292" r:id="rId11"/>
    <p:sldId id="295" r:id="rId12"/>
    <p:sldId id="29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C3D3"/>
    <a:srgbClr val="002136"/>
    <a:srgbClr val="103350"/>
    <a:srgbClr val="0C4360"/>
    <a:srgbClr val="1B6872"/>
    <a:srgbClr val="63B7C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7382" autoAdjust="0"/>
  </p:normalViewPr>
  <p:slideViewPr>
    <p:cSldViewPr snapToGrid="0">
      <p:cViewPr varScale="1">
        <p:scale>
          <a:sx n="155" d="100"/>
          <a:sy n="155" d="100"/>
        </p:scale>
        <p:origin x="162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119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2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8428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926" y="2740903"/>
            <a:ext cx="7077456" cy="1243584"/>
          </a:xfrm>
        </p:spPr>
        <p:txBody>
          <a:bodyPr/>
          <a:lstStyle/>
          <a:p>
            <a:r>
              <a:rPr lang="en-US" dirty="0"/>
              <a:t>MIPS Pipeline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1926" y="3984487"/>
            <a:ext cx="5649859" cy="8686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CS3339 spring 2026</a:t>
            </a:r>
          </a:p>
          <a:p>
            <a:pPr marL="0" indent="0">
              <a:buNone/>
            </a:pPr>
            <a:r>
              <a:rPr lang="en-US" dirty="0"/>
              <a:t>By: Jeremiah Medeiros, Josh Boubel, Michael Edwards, Spencer Johnson</a:t>
            </a:r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9676B3B4-6455-8A0F-1A4F-C4E0CD000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385" y="2341616"/>
            <a:ext cx="3596215" cy="244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US" sz="4800" dirty="0"/>
              <a:t>Project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63485"/>
            <a:ext cx="6718300" cy="4093243"/>
          </a:xfrm>
        </p:spPr>
        <p:txBody>
          <a:bodyPr/>
          <a:lstStyle/>
          <a:p>
            <a:r>
              <a:rPr lang="en-US" sz="1800" dirty="0"/>
              <a:t>Instruction-by-instruction simulator for a pipelined MIPS processor</a:t>
            </a:r>
          </a:p>
          <a:p>
            <a:r>
              <a:rPr lang="en-US" sz="1800" dirty="0"/>
              <a:t>Written in C++, object-oriented programming approach</a:t>
            </a:r>
          </a:p>
          <a:p>
            <a:r>
              <a:rPr lang="en-US" sz="1800" dirty="0"/>
              <a:t>Includes modules for each microarchitectural element of the processor</a:t>
            </a:r>
          </a:p>
          <a:p>
            <a:r>
              <a:rPr lang="en-US" sz="1800" dirty="0"/>
              <a:t> follows 5-stage pipeline and respective state registers</a:t>
            </a:r>
          </a:p>
          <a:p>
            <a:r>
              <a:rPr lang="en-US" sz="1800" dirty="0"/>
              <a:t>Instruction parsing process</a:t>
            </a:r>
          </a:p>
          <a:p>
            <a:r>
              <a:rPr lang="en-US" sz="1800" dirty="0"/>
              <a:t>Support for separate debug mode</a:t>
            </a:r>
          </a:p>
          <a:p>
            <a:r>
              <a:rPr lang="en-US" sz="1800" dirty="0"/>
              <a:t>supports the following subset of MIPS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131C-0034-EAA7-7FCF-EFC6ED98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supported MIPS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836C4B-C85A-4CA8-CECB-6933F824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B737DD-1A5A-79EE-C181-3BD0448F1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395" y="1650189"/>
            <a:ext cx="4233209" cy="439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9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F0FB-9405-E8A4-DFF1-B5C98701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FCC-F7FF-2669-57D6-FCA297AD1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Processor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F40EE-59F5-61A6-5846-42A3C7A2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6F24EE-9B70-85A7-B6E9-11408D5DB1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930578"/>
            <a:ext cx="5985466" cy="337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34CBE0-76E5-D3D7-D0B9-36A41ABBC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363" y="2609116"/>
            <a:ext cx="4698037" cy="201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3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99B370-ED29-32C0-F613-62A100A07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represented as code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70C6-A2CB-9869-03A0-1ED1B2F8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stage MIPS pipeline</a:t>
            </a:r>
          </a:p>
        </p:txBody>
      </p:sp>
      <p:pic>
        <p:nvPicPr>
          <p:cNvPr id="15" name="Picture Placeholder 14" descr="Inbox with solid fill">
            <a:extLst>
              <a:ext uri="{FF2B5EF4-FFF2-40B4-BE49-F238E27FC236}">
                <a16:creationId xmlns:a16="http://schemas.microsoft.com/office/drawing/2014/main" id="{005E7CD9-4329-6EA7-7869-2071316055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/>
      </p:pic>
      <p:pic>
        <p:nvPicPr>
          <p:cNvPr id="23" name="Picture Placeholder 22" descr="Shuffle with solid fill">
            <a:extLst>
              <a:ext uri="{FF2B5EF4-FFF2-40B4-BE49-F238E27FC236}">
                <a16:creationId xmlns:a16="http://schemas.microsoft.com/office/drawing/2014/main" id="{1DB3CEAA-C335-D548-50C7-F921C3402C1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Gears with solid fill">
            <a:extLst>
              <a:ext uri="{FF2B5EF4-FFF2-40B4-BE49-F238E27FC236}">
                <a16:creationId xmlns:a16="http://schemas.microsoft.com/office/drawing/2014/main" id="{5A2CB788-7659-3A5C-99E7-4642D18873E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3" b="63"/>
          <a:stretch>
            <a:fillRect/>
          </a:stretch>
        </p:blipFill>
        <p:spPr/>
      </p:pic>
      <p:pic>
        <p:nvPicPr>
          <p:cNvPr id="19" name="Picture Placeholder 18" descr="Database with solid fill">
            <a:extLst>
              <a:ext uri="{FF2B5EF4-FFF2-40B4-BE49-F238E27FC236}">
                <a16:creationId xmlns:a16="http://schemas.microsoft.com/office/drawing/2014/main" id="{03FF9597-A391-C146-80A6-B168AA1E39C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pic>
        <p:nvPicPr>
          <p:cNvPr id="21" name="Picture Placeholder 20" descr="Disk with solid fill">
            <a:extLst>
              <a:ext uri="{FF2B5EF4-FFF2-40B4-BE49-F238E27FC236}">
                <a16:creationId xmlns:a16="http://schemas.microsoft.com/office/drawing/2014/main" id="{1FA4BB98-92CC-5495-6A30-647BA78C0D8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4576C9-47C4-4E5D-CB81-ECAD333446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IF</a:t>
            </a:r>
          </a:p>
          <a:p>
            <a:r>
              <a:rPr lang="en-US" dirty="0"/>
              <a:t>Instruction Fetch:  Fetch instruction from memory and update PC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EDC7BA-2DB7-69A7-6508-639CE876AE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ID</a:t>
            </a:r>
          </a:p>
          <a:p>
            <a:r>
              <a:rPr lang="en-US" dirty="0"/>
              <a:t>Instruction Decode: Decode instructions and read from register file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DC49360-6731-F007-28A5-A444B11F5E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EX</a:t>
            </a:r>
          </a:p>
          <a:p>
            <a:r>
              <a:rPr lang="en-US" dirty="0"/>
              <a:t>Execute:          Execute arithmetic instruction, calculate memory address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1025D9-D940-CEEF-D53B-2ACB1DF861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MEM</a:t>
            </a:r>
          </a:p>
          <a:p>
            <a:r>
              <a:rPr lang="en-US" dirty="0"/>
              <a:t>Memory (MEM): Read/write data from/to the data memory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30DEC9-3818-79BA-DED1-DC9B7B3A3F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WB</a:t>
            </a:r>
          </a:p>
          <a:p>
            <a:r>
              <a:rPr lang="en-US" dirty="0"/>
              <a:t>Write back:          Write result data into the register file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5FA8094-F4E1-D30B-5096-BAEBEC6C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5E00604-1904-BCBC-390E-7E0BCAE28182}"/>
              </a:ext>
            </a:extLst>
          </p:cNvPr>
          <p:cNvSpPr/>
          <p:nvPr/>
        </p:nvSpPr>
        <p:spPr>
          <a:xfrm>
            <a:off x="2348447" y="2540000"/>
            <a:ext cx="762000" cy="393700"/>
          </a:xfrm>
          <a:prstGeom prst="rightArrow">
            <a:avLst/>
          </a:prstGeom>
          <a:solidFill>
            <a:srgbClr val="47C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6D7C0E6-D6D6-A781-8A15-F593B4E4B7BD}"/>
              </a:ext>
            </a:extLst>
          </p:cNvPr>
          <p:cNvSpPr/>
          <p:nvPr/>
        </p:nvSpPr>
        <p:spPr>
          <a:xfrm>
            <a:off x="4592991" y="2540000"/>
            <a:ext cx="762000" cy="393700"/>
          </a:xfrm>
          <a:prstGeom prst="rightArrow">
            <a:avLst/>
          </a:prstGeom>
          <a:solidFill>
            <a:srgbClr val="47C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2B01EE9-C6DF-8D18-4B05-100DC3D423AF}"/>
              </a:ext>
            </a:extLst>
          </p:cNvPr>
          <p:cNvSpPr/>
          <p:nvPr/>
        </p:nvSpPr>
        <p:spPr>
          <a:xfrm>
            <a:off x="6837009" y="2540000"/>
            <a:ext cx="762000" cy="393700"/>
          </a:xfrm>
          <a:prstGeom prst="rightArrow">
            <a:avLst/>
          </a:prstGeom>
          <a:solidFill>
            <a:srgbClr val="47C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F135A57-46F3-C386-DE6C-D835CA1E23A3}"/>
              </a:ext>
            </a:extLst>
          </p:cNvPr>
          <p:cNvSpPr/>
          <p:nvPr/>
        </p:nvSpPr>
        <p:spPr>
          <a:xfrm>
            <a:off x="9081553" y="2529618"/>
            <a:ext cx="762000" cy="393700"/>
          </a:xfrm>
          <a:prstGeom prst="rightArrow">
            <a:avLst/>
          </a:prstGeom>
          <a:solidFill>
            <a:srgbClr val="47C3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4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6D11B3-44FD-F1BC-5887-5DFDFBE940F0}"/>
              </a:ext>
            </a:extLst>
          </p:cNvPr>
          <p:cNvSpPr/>
          <p:nvPr/>
        </p:nvSpPr>
        <p:spPr>
          <a:xfrm>
            <a:off x="8346244" y="1440086"/>
            <a:ext cx="3293306" cy="4684274"/>
          </a:xfrm>
          <a:prstGeom prst="roundRect">
            <a:avLst/>
          </a:prstGeom>
          <a:solidFill>
            <a:srgbClr val="0021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7C3D3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20C2E5-6BFE-4865-4E36-73EE07A2B526}"/>
              </a:ext>
            </a:extLst>
          </p:cNvPr>
          <p:cNvSpPr/>
          <p:nvPr/>
        </p:nvSpPr>
        <p:spPr>
          <a:xfrm>
            <a:off x="4454525" y="1440086"/>
            <a:ext cx="3293306" cy="4684274"/>
          </a:xfrm>
          <a:prstGeom prst="roundRect">
            <a:avLst/>
          </a:prstGeom>
          <a:solidFill>
            <a:srgbClr val="0021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7C3D3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D79E7F-BC73-03E5-616B-2533CEB54ECC}"/>
              </a:ext>
            </a:extLst>
          </p:cNvPr>
          <p:cNvSpPr/>
          <p:nvPr/>
        </p:nvSpPr>
        <p:spPr>
          <a:xfrm>
            <a:off x="552450" y="1424426"/>
            <a:ext cx="3293306" cy="4684274"/>
          </a:xfrm>
          <a:prstGeom prst="roundRect">
            <a:avLst/>
          </a:prstGeom>
          <a:solidFill>
            <a:srgbClr val="0021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7C3D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0F0FA-7C2E-84B9-F34A-0203CFAA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design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2A075-77EC-5DFF-D929-F85DF98D9A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Each stage of our pipeline is implemented in reverse order throughout single instruction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state registers avoid overriding each other during execution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A688C-6B5F-90A5-703C-F4F76266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5246C8-7A72-3609-49DB-02D5BB8FB8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state register, we include a current and next version of each state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…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BA793F-25B5-73F6-E702-76ACE1E8CB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state register includes a flag for if data is valid. Only when valid is true, will the state register propagate its instruction to the 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the end of pipeline cycle commit() is used to update the next version of each state register with the current state register</a:t>
            </a:r>
          </a:p>
          <a:p>
            <a:endParaRPr lang="en-US" dirty="0"/>
          </a:p>
        </p:txBody>
      </p:sp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4EF829BF-9A56-FAE9-75D1-57FB2052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0" y="2134048"/>
            <a:ext cx="3581114" cy="164817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33507-DACE-7189-9E49-19FBF0560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76" y="2380859"/>
            <a:ext cx="3030691" cy="11545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FE1BB4-411D-9F05-551D-0E860E5FEB7E}"/>
              </a:ext>
            </a:extLst>
          </p:cNvPr>
          <p:cNvSpPr txBox="1"/>
          <p:nvPr/>
        </p:nvSpPr>
        <p:spPr>
          <a:xfrm>
            <a:off x="1510884" y="1589422"/>
            <a:ext cx="1355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Reverse order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5D8527-CA6B-26CF-3E7C-0D9A573BCB9B}"/>
              </a:ext>
            </a:extLst>
          </p:cNvPr>
          <p:cNvSpPr txBox="1"/>
          <p:nvPr/>
        </p:nvSpPr>
        <p:spPr>
          <a:xfrm>
            <a:off x="4997450" y="1589422"/>
            <a:ext cx="21081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State register duplicates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7909E4-8E7F-18B2-C970-EE17FD704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348" y="2380859"/>
            <a:ext cx="2309097" cy="11545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ACDDBD-94BB-BD40-B9B4-11457B269253}"/>
              </a:ext>
            </a:extLst>
          </p:cNvPr>
          <p:cNvSpPr txBox="1"/>
          <p:nvPr/>
        </p:nvSpPr>
        <p:spPr>
          <a:xfrm>
            <a:off x="8938796" y="1589422"/>
            <a:ext cx="2108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State register validation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0C9331-0BE8-6096-57E2-CB301E433B84}"/>
              </a:ext>
            </a:extLst>
          </p:cNvPr>
          <p:cNvSpPr txBox="1"/>
          <p:nvPr/>
        </p:nvSpPr>
        <p:spPr>
          <a:xfrm>
            <a:off x="8683794" y="2049281"/>
            <a:ext cx="688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(ex):</a:t>
            </a:r>
          </a:p>
        </p:txBody>
      </p:sp>
    </p:spTree>
    <p:extLst>
      <p:ext uri="{BB962C8B-B14F-4D97-AF65-F5344CB8AC3E}">
        <p14:creationId xmlns:p14="http://schemas.microsoft.com/office/powerpoint/2010/main" val="78472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9778-38CA-191D-FBB1-26FF7992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691112"/>
            <a:ext cx="7781544" cy="859055"/>
          </a:xfrm>
        </p:spPr>
        <p:txBody>
          <a:bodyPr/>
          <a:lstStyle/>
          <a:p>
            <a:r>
              <a:rPr lang="en-US" dirty="0"/>
              <a:t>Program demonstration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262A8-7832-A5A5-2DE6-8C7F6BF31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510878"/>
            <a:ext cx="680313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9C80F-304E-40BB-7BD3-48669109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6" name="Picture 5" descr="People working on a computer">
            <a:extLst>
              <a:ext uri="{FF2B5EF4-FFF2-40B4-BE49-F238E27FC236}">
                <a16:creationId xmlns:a16="http://schemas.microsoft.com/office/drawing/2014/main" id="{BDEC13CE-1C27-ADFF-6E73-8074BE39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66" y="530374"/>
            <a:ext cx="5692468" cy="379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8F77-A00D-6EE8-4EDF-43F265C76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9669" y="3344727"/>
            <a:ext cx="4945598" cy="1243584"/>
          </a:xfrm>
        </p:spPr>
        <p:txBody>
          <a:bodyPr/>
          <a:lstStyle/>
          <a:p>
            <a:r>
              <a:rPr lang="en-US" dirty="0"/>
              <a:t>Any questions?????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DF33BB-60BB-D0E8-7765-9EBB65C2BD1D}"/>
              </a:ext>
            </a:extLst>
          </p:cNvPr>
          <p:cNvSpPr txBox="1">
            <a:spLocks/>
          </p:cNvSpPr>
          <p:nvPr/>
        </p:nvSpPr>
        <p:spPr>
          <a:xfrm>
            <a:off x="6409669" y="1866035"/>
            <a:ext cx="4945598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Q&amp;A:</a:t>
            </a:r>
          </a:p>
        </p:txBody>
      </p:sp>
    </p:spTree>
    <p:extLst>
      <p:ext uri="{BB962C8B-B14F-4D97-AF65-F5344CB8AC3E}">
        <p14:creationId xmlns:p14="http://schemas.microsoft.com/office/powerpoint/2010/main" val="2026435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281</TotalTime>
  <Words>269</Words>
  <Application>Microsoft Office PowerPoint</Application>
  <PresentationFormat>Widescreen</PresentationFormat>
  <Paragraphs>50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Trade Gothic LT Pro</vt:lpstr>
      <vt:lpstr>Trebuchet MS</vt:lpstr>
      <vt:lpstr>Office Theme</vt:lpstr>
      <vt:lpstr>MIPS Pipeline Simulator</vt:lpstr>
      <vt:lpstr>Project overview</vt:lpstr>
      <vt:lpstr>supported MIPS instructions</vt:lpstr>
      <vt:lpstr>Processor datapath</vt:lpstr>
      <vt:lpstr>Microarchitecture</vt:lpstr>
      <vt:lpstr>5 stage MIPS pipeline</vt:lpstr>
      <vt:lpstr>Pipeline design choices</vt:lpstr>
      <vt:lpstr>Program demonstration</vt:lpstr>
      <vt:lpstr>Any questions?????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Jeremiah Medeiros</dc:creator>
  <cp:lastModifiedBy>Jeremiah Medeiros</cp:lastModifiedBy>
  <cp:revision>1</cp:revision>
  <dcterms:created xsi:type="dcterms:W3CDTF">2026-04-26T01:54:03Z</dcterms:created>
  <dcterms:modified xsi:type="dcterms:W3CDTF">2026-04-26T06:35:36Z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